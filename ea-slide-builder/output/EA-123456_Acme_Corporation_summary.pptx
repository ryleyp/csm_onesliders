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ln w="25400">
              <a:solidFill>
                <a:srgbClr val="18AF7C"/>
              </a:solidFill>
            </a:ln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2021 Q1</c:v>
                </c:pt>
                <c:pt idx="1">
                  <c:v>2021 Q2</c:v>
                </c:pt>
                <c:pt idx="2">
                  <c:v>2021 Q3</c:v>
                </c:pt>
                <c:pt idx="3">
                  <c:v>2021 Q4</c:v>
                </c:pt>
                <c:pt idx="4">
                  <c:v>2022 Q1</c:v>
                </c:pt>
                <c:pt idx="5">
                  <c:v>2022 Q2</c:v>
                </c:pt>
                <c:pt idx="6">
                  <c:v>2022 Q3</c:v>
                </c:pt>
                <c:pt idx="7">
                  <c:v>2022 Q4</c:v>
                </c:pt>
                <c:pt idx="8">
                  <c:v>2023 Q1</c:v>
                </c:pt>
                <c:pt idx="9">
                  <c:v>2023 Q2</c:v>
                </c:pt>
                <c:pt idx="10">
                  <c:v>2023 Q3</c:v>
                </c:pt>
                <c:pt idx="11">
                  <c:v>2023 Q4</c:v>
                </c:pt>
                <c:pt idx="12">
                  <c:v>2024 Q1</c:v>
                </c:pt>
                <c:pt idx="13">
                  <c:v>2024 Q2</c:v>
                </c:pt>
                <c:pt idx="14">
                  <c:v>2024 Q3</c:v>
                </c:pt>
                <c:pt idx="15">
                  <c:v>2024 Q4</c:v>
                </c:pt>
                <c:pt idx="16">
                  <c:v>2025 Q1</c:v>
                </c:pt>
                <c:pt idx="17">
                  <c:v>2025 Q2</c:v>
                </c:pt>
                <c:pt idx="18">
                  <c:v>2025 Q3</c:v>
                </c:pt>
                <c:pt idx="19">
                  <c:v>2025 Q4</c:v>
                </c:pt>
                <c:pt idx="20">
                  <c:v>2026 Q1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970.0</c:v>
                </c:pt>
                <c:pt idx="1">
                  <c:v>1082.0</c:v>
                </c:pt>
                <c:pt idx="2">
                  <c:v>1211.0</c:v>
                </c:pt>
                <c:pt idx="3">
                  <c:v>1272.0</c:v>
                </c:pt>
                <c:pt idx="4">
                  <c:v>1461.0</c:v>
                </c:pt>
                <c:pt idx="5">
                  <c:v>1579.0</c:v>
                </c:pt>
                <c:pt idx="6">
                  <c:v>1742.0</c:v>
                </c:pt>
                <c:pt idx="7">
                  <c:v>1677.0</c:v>
                </c:pt>
                <c:pt idx="8">
                  <c:v>2100.0</c:v>
                </c:pt>
                <c:pt idx="9">
                  <c:v>2066.0</c:v>
                </c:pt>
                <c:pt idx="10">
                  <c:v>2198.0</c:v>
                </c:pt>
                <c:pt idx="11">
                  <c:v>2028.0</c:v>
                </c:pt>
                <c:pt idx="12">
                  <c:v>2324.0</c:v>
                </c:pt>
                <c:pt idx="13">
                  <c:v>2363.0</c:v>
                </c:pt>
                <c:pt idx="14">
                  <c:v>2431.0</c:v>
                </c:pt>
                <c:pt idx="15">
                  <c:v>2342.0</c:v>
                </c:pt>
                <c:pt idx="16">
                  <c:v>2545.0</c:v>
                </c:pt>
                <c:pt idx="17">
                  <c:v>2543.0</c:v>
                </c:pt>
                <c:pt idx="18">
                  <c:v>2452.0</c:v>
                </c:pt>
                <c:pt idx="19">
                  <c:v>2190.0</c:v>
                </c:pt>
                <c:pt idx="20">
                  <c:v>40.0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7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228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13324"/>
                </a:solidFill>
              </a:rPr>
              <a:t>EA-123456 - Acme Corporation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800100"/>
            <a:ext cx="8686800" cy="4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8A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800">
                <a:solidFill>
                  <a:srgbClr val="013324"/>
                </a:solidFill>
              </a:rPr>
              <a:t>EA End Date: 2025-12-31     Term: 3 Years     Scope: Enterprise     Phase: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314400"/>
            <a:ext cx="2819400" cy="194300"/>
          </a:xfrm>
          <a:prstGeom prst="rect">
            <a:avLst/>
          </a:prstGeom>
          <a:solidFill>
            <a:srgbClr val="013324"/>
          </a:solidFill>
        </p:spPr>
        <p:txBody>
          <a:bodyPr wrap="square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</a:rPr>
              <a:t>Bundle Information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508700"/>
          <a:ext cx="2819399" cy="550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2610"/>
                <a:gridCol w="986789"/>
              </a:tblGrid>
              <a:tr h="18335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Bundle Name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</a:tr>
              <a:tr h="18335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Design Suite Bundle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335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Simulation Bundle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Suite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2173050"/>
            <a:ext cx="2819400" cy="194300"/>
          </a:xfrm>
          <a:prstGeom prst="rect">
            <a:avLst/>
          </a:prstGeom>
          <a:solidFill>
            <a:srgbClr val="013324"/>
          </a:solidFill>
        </p:spPr>
        <p:txBody>
          <a:bodyPr wrap="square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</a:rPr>
              <a:t>Finite Quantity Licenses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2367350"/>
          <a:ext cx="2819400" cy="94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716"/>
                <a:gridCol w="1522476"/>
                <a:gridCol w="902208"/>
              </a:tblGrid>
              <a:tr h="1897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</a:tr>
              <a:tr h="1897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AutoCAD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Named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97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Revit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Named User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97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Inventor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Named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97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Navisworks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Named User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162300" y="1314400"/>
            <a:ext cx="2819400" cy="194300"/>
          </a:xfrm>
          <a:prstGeom prst="rect">
            <a:avLst/>
          </a:prstGeom>
          <a:solidFill>
            <a:srgbClr val="013324"/>
          </a:solidFill>
        </p:spPr>
        <p:txBody>
          <a:bodyPr wrap="square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</a:rPr>
              <a:t>Software Usage Trend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162300" y="1508700"/>
          <a:ext cx="2819400" cy="18002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162300" y="3423250"/>
            <a:ext cx="2819400" cy="194300"/>
          </a:xfrm>
          <a:prstGeom prst="rect">
            <a:avLst/>
          </a:prstGeom>
          <a:solidFill>
            <a:srgbClr val="013324"/>
          </a:solidFill>
        </p:spPr>
        <p:txBody>
          <a:bodyPr wrap="square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</a:rPr>
              <a:t>Software Usage Data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62300" y="3617550"/>
          <a:ext cx="2819400" cy="73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700"/>
                <a:gridCol w="1409700"/>
              </a:tblGrid>
              <a:tr h="18335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</a:tr>
              <a:tr h="18335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Peak Sessions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2,545 (2025 Q1)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335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Low Sessions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40 (2026 Q1)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335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Avg QoQ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96000" y="1314400"/>
            <a:ext cx="2819400" cy="194300"/>
          </a:xfrm>
          <a:prstGeom prst="rect">
            <a:avLst/>
          </a:prstGeom>
          <a:solidFill>
            <a:srgbClr val="013324"/>
          </a:solidFill>
        </p:spPr>
        <p:txBody>
          <a:bodyPr wrap="square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</a:rPr>
              <a:t>Top Site Locations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096000" y="1508700"/>
          <a:ext cx="2819400" cy="110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700"/>
                <a:gridCol w="789432"/>
                <a:gridCol w="620268"/>
              </a:tblGrid>
              <a:tr h="18335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Sessions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</a:tr>
              <a:tr h="18335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United States, Ontario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983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50.4%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335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United States, Marion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177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9.1%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335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India, Bengaluru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335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Singapore, Singapore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3.7%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335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United States, Tucson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096000" y="2723100"/>
            <a:ext cx="2819400" cy="194300"/>
          </a:xfrm>
          <a:prstGeom prst="rect">
            <a:avLst/>
          </a:prstGeom>
          <a:solidFill>
            <a:srgbClr val="013324"/>
          </a:solidFill>
        </p:spPr>
        <p:txBody>
          <a:bodyPr wrap="square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</a:rPr>
              <a:t>Version Usage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096000" y="2917400"/>
          <a:ext cx="2819400" cy="42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148"/>
                <a:gridCol w="845820"/>
                <a:gridCol w="789432"/>
              </a:tblGrid>
              <a:tr h="151600">
                <a:tc>
                  <a:txBody>
                    <a:bodyPr/>
                    <a:lstStyle/>
                    <a:p>
                      <a:pPr>
                        <a:defRPr sz="5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1">
                          <a:solidFill>
                            <a:srgbClr val="FFFFFF"/>
                          </a:solidFill>
                        </a:defRPr>
                      </a:pPr>
                      <a:r>
                        <a:t>Top Version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1">
                          <a:solidFill>
                            <a:srgbClr val="FFFFFF"/>
                          </a:solidFill>
                        </a:defRPr>
                      </a:pPr>
                      <a:r>
                        <a:t>Usage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LabVIEW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5,305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20.0.0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3,120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TestStand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1,880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CVI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19.0.0.49155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838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Vision Development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14.0.0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DIAdem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347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Hardware Configurati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2023 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Requirements Gateway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VeriStand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2020 R6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IMAQdx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23.0.0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177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InstrumentStudio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21.0.0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MStudio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Vision Assistant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19.5.0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LabVIEW NXG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FlexLogger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2024 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DAQExpress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5.1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G Web Development 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2022 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LVFPGA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LV-2012-LEGACY_NOT_P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MEASUREMENTLINKUIEDI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2024 Q2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NI Compare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Digital Pattern Edit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20.6.0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VBAI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19.0.0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MEASUREMENTLINK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24.3.0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LVRT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SignalExpress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1600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RFmx SFP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20.7.0.49199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096000" y="7276500"/>
            <a:ext cx="2819400" cy="194300"/>
          </a:xfrm>
          <a:prstGeom prst="rect">
            <a:avLst/>
          </a:prstGeom>
          <a:solidFill>
            <a:srgbClr val="013324"/>
          </a:solidFill>
        </p:spPr>
        <p:txBody>
          <a:bodyPr wrap="square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</a:rPr>
              <a:t>Training Credit Usage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96000" y="7470800"/>
          <a:ext cx="2819400" cy="916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0670"/>
                <a:gridCol w="1268730"/>
              </a:tblGrid>
              <a:tr h="18335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</a:tr>
              <a:tr h="18335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335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Used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335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Remaining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335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% Used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096000" y="8501850"/>
            <a:ext cx="2819400" cy="194300"/>
          </a:xfrm>
          <a:prstGeom prst="rect">
            <a:avLst/>
          </a:prstGeom>
          <a:solidFill>
            <a:srgbClr val="013324"/>
          </a:solidFill>
        </p:spPr>
        <p:txBody>
          <a:bodyPr wrap="square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</a:rPr>
              <a:t>Technical Support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096000" y="8696150"/>
          <a:ext cx="2819400" cy="366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</a:tblGrid>
              <a:tr h="18335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Support Level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</a:tr>
              <a:tr h="18335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00000"/>
                          </a:solidFill>
                        </a:defRPr>
                      </a:pPr>
                      <a:r>
                        <a:t>Premier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