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ln w="25400">
              <a:solidFill>
                <a:srgbClr val="18AF7C"/>
              </a:solidFill>
            </a:ln>
          </c:spPr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2023 Q1</c:v>
                </c:pt>
                <c:pt idx="1">
                  <c:v>2023 Q2</c:v>
                </c:pt>
                <c:pt idx="2">
                  <c:v>2023 Q3</c:v>
                </c:pt>
                <c:pt idx="3">
                  <c:v>2023 Q4</c:v>
                </c:pt>
                <c:pt idx="4">
                  <c:v>2024 Q1</c:v>
                </c:pt>
                <c:pt idx="5">
                  <c:v>2024 Q2</c:v>
                </c:pt>
                <c:pt idx="6">
                  <c:v>2024 Q3</c:v>
                </c:pt>
                <c:pt idx="7">
                  <c:v>2024 Q4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660.0</c:v>
                </c:pt>
                <c:pt idx="1">
                  <c:v>755.0</c:v>
                </c:pt>
                <c:pt idx="2">
                  <c:v>700.0</c:v>
                </c:pt>
                <c:pt idx="3">
                  <c:v>850.0</c:v>
                </c:pt>
                <c:pt idx="4">
                  <c:v>950.0</c:v>
                </c:pt>
                <c:pt idx="5">
                  <c:v>1050.0</c:v>
                </c:pt>
                <c:pt idx="6">
                  <c:v>990.0</c:v>
                </c:pt>
                <c:pt idx="7">
                  <c:v>1170.0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6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6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7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2286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013324"/>
                </a:solidFill>
              </a:rPr>
              <a:t>EA-123456 - Acme Corporation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" y="800100"/>
            <a:ext cx="8686800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8AF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800">
                <a:solidFill>
                  <a:srgbClr val="013324"/>
                </a:solidFill>
              </a:rPr>
              <a:t>EA End Date: 2025-12-31     Term: 3 Years     Scope: Enterprise     Phase: Phase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371600"/>
            <a:ext cx="2819400" cy="207000"/>
          </a:xfrm>
          <a:prstGeom prst="rect">
            <a:avLst/>
          </a:prstGeom>
          <a:solidFill>
            <a:srgbClr val="013324"/>
          </a:solidFill>
        </p:spPr>
        <p:txBody>
          <a:bodyPr wrap="square">
            <a:spAutoFit/>
          </a:bodyPr>
          <a:lstStyle/>
          <a:p>
            <a:pPr algn="ctr"/>
            <a:r>
              <a:rPr b="1" sz="800">
                <a:solidFill>
                  <a:srgbClr val="FFFFFF"/>
                </a:solidFill>
              </a:rPr>
              <a:t>Bundle Information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1578600"/>
          <a:ext cx="2819399" cy="63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2610"/>
                <a:gridCol w="986789"/>
              </a:tblGrid>
              <a:tr h="2124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Bundle Name</a:t>
                      </a:r>
                    </a:p>
                  </a:txBody>
                  <a:tcPr>
                    <a:solidFill>
                      <a:srgbClr val="0133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013324"/>
                    </a:solidFill>
                  </a:tcPr>
                </a:tc>
              </a:tr>
              <a:tr h="2124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Design Suite Bundle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Suite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24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Simulation Bundle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Suite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28600" y="2315800"/>
            <a:ext cx="2819400" cy="207000"/>
          </a:xfrm>
          <a:prstGeom prst="rect">
            <a:avLst/>
          </a:prstGeom>
          <a:solidFill>
            <a:srgbClr val="013324"/>
          </a:solidFill>
        </p:spPr>
        <p:txBody>
          <a:bodyPr wrap="square">
            <a:spAutoFit/>
          </a:bodyPr>
          <a:lstStyle/>
          <a:p>
            <a:pPr algn="ctr"/>
            <a:r>
              <a:rPr b="1" sz="800">
                <a:solidFill>
                  <a:srgbClr val="FFFFFF"/>
                </a:solidFill>
              </a:rPr>
              <a:t>Finite Quantity Licenses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28600" y="2522800"/>
          <a:ext cx="2819400" cy="10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910"/>
                <a:gridCol w="1550670"/>
                <a:gridCol w="845820"/>
              </a:tblGrid>
              <a:tr h="2124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Qty</a:t>
                      </a:r>
                    </a:p>
                  </a:txBody>
                  <a:tcPr>
                    <a:solidFill>
                      <a:srgbClr val="0133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Product</a:t>
                      </a:r>
                    </a:p>
                  </a:txBody>
                  <a:tcPr>
                    <a:solidFill>
                      <a:srgbClr val="0133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013324"/>
                    </a:solidFill>
                  </a:tcPr>
                </a:tc>
              </a:tr>
              <a:tr h="2124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AutoCAD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Named User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24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250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Revit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Named User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124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Inventor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Named User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24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Navisworks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Named User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162300" y="1371600"/>
            <a:ext cx="2819400" cy="207000"/>
          </a:xfrm>
          <a:prstGeom prst="rect">
            <a:avLst/>
          </a:prstGeom>
          <a:solidFill>
            <a:srgbClr val="013324"/>
          </a:solidFill>
        </p:spPr>
        <p:txBody>
          <a:bodyPr wrap="square">
            <a:spAutoFit/>
          </a:bodyPr>
          <a:lstStyle/>
          <a:p>
            <a:pPr algn="ctr"/>
            <a:r>
              <a:rPr b="1" sz="800">
                <a:solidFill>
                  <a:srgbClr val="FFFFFF"/>
                </a:solidFill>
              </a:rPr>
              <a:t>Software Usage Trend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3162300" y="1578600"/>
          <a:ext cx="2819400" cy="159448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162300" y="3253085"/>
            <a:ext cx="2819400" cy="207000"/>
          </a:xfrm>
          <a:prstGeom prst="rect">
            <a:avLst/>
          </a:prstGeom>
          <a:solidFill>
            <a:srgbClr val="013324"/>
          </a:solidFill>
        </p:spPr>
        <p:txBody>
          <a:bodyPr wrap="square">
            <a:spAutoFit/>
          </a:bodyPr>
          <a:lstStyle/>
          <a:p>
            <a:pPr algn="ctr"/>
            <a:r>
              <a:rPr b="1" sz="800">
                <a:solidFill>
                  <a:srgbClr val="FFFFFF"/>
                </a:solidFill>
              </a:rPr>
              <a:t>Software Usage Data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162300" y="3460085"/>
          <a:ext cx="2819400" cy="84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9700"/>
                <a:gridCol w="1409700"/>
              </a:tblGrid>
              <a:tr h="2124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133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13324"/>
                    </a:solidFill>
                  </a:tcPr>
                </a:tc>
              </a:tr>
              <a:tr h="2124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Max Sessions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1,170 (2024 Q4)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24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Min Sessions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660 (2023 Q1)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124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Avg QoQ Change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+9.0%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096000" y="1371600"/>
            <a:ext cx="2819400" cy="207000"/>
          </a:xfrm>
          <a:prstGeom prst="rect">
            <a:avLst/>
          </a:prstGeom>
          <a:solidFill>
            <a:srgbClr val="013324"/>
          </a:solidFill>
        </p:spPr>
        <p:txBody>
          <a:bodyPr wrap="square">
            <a:spAutoFit/>
          </a:bodyPr>
          <a:lstStyle/>
          <a:p>
            <a:pPr algn="ctr"/>
            <a:r>
              <a:rPr b="1" sz="800">
                <a:solidFill>
                  <a:srgbClr val="FFFFFF"/>
                </a:solidFill>
              </a:rPr>
              <a:t>Top Site Locations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096000" y="1578600"/>
          <a:ext cx="2819400" cy="42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9700"/>
                <a:gridCol w="789432"/>
                <a:gridCol w="620268"/>
              </a:tblGrid>
              <a:tr h="2124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Location</a:t>
                      </a:r>
                    </a:p>
                  </a:txBody>
                  <a:tcPr>
                    <a:solidFill>
                      <a:srgbClr val="0133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Sessions</a:t>
                      </a:r>
                    </a:p>
                  </a:txBody>
                  <a:tcPr>
                    <a:solidFill>
                      <a:srgbClr val="0133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%</a:t>
                      </a:r>
                    </a:p>
                  </a:txBody>
                  <a:tcPr>
                    <a:solidFill>
                      <a:srgbClr val="013324"/>
                    </a:solidFill>
                  </a:tcPr>
                </a:tc>
              </a:tr>
              <a:tr h="2124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No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096000" y="2083400"/>
            <a:ext cx="2819400" cy="207000"/>
          </a:xfrm>
          <a:prstGeom prst="rect">
            <a:avLst/>
          </a:prstGeom>
          <a:solidFill>
            <a:srgbClr val="013324"/>
          </a:solidFill>
        </p:spPr>
        <p:txBody>
          <a:bodyPr wrap="square">
            <a:spAutoFit/>
          </a:bodyPr>
          <a:lstStyle/>
          <a:p>
            <a:pPr algn="ctr"/>
            <a:r>
              <a:rPr b="1" sz="800">
                <a:solidFill>
                  <a:srgbClr val="FFFFFF"/>
                </a:solidFill>
              </a:rPr>
              <a:t>Version Usage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096000" y="2290400"/>
          <a:ext cx="2819400" cy="42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7760"/>
                <a:gridCol w="845820"/>
                <a:gridCol w="845820"/>
              </a:tblGrid>
              <a:tr h="2124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Product</a:t>
                      </a:r>
                    </a:p>
                  </a:txBody>
                  <a:tcPr>
                    <a:solidFill>
                      <a:srgbClr val="0133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Top Version</a:t>
                      </a:r>
                    </a:p>
                  </a:txBody>
                  <a:tcPr>
                    <a:solidFill>
                      <a:srgbClr val="0133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Usage</a:t>
                      </a:r>
                    </a:p>
                  </a:txBody>
                  <a:tcPr>
                    <a:solidFill>
                      <a:srgbClr val="013324"/>
                    </a:solidFill>
                  </a:tcPr>
                </a:tc>
              </a:tr>
              <a:tr h="2124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No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096000" y="2795200"/>
            <a:ext cx="2819400" cy="207000"/>
          </a:xfrm>
          <a:prstGeom prst="rect">
            <a:avLst/>
          </a:prstGeom>
          <a:solidFill>
            <a:srgbClr val="013324"/>
          </a:solidFill>
        </p:spPr>
        <p:txBody>
          <a:bodyPr wrap="square">
            <a:spAutoFit/>
          </a:bodyPr>
          <a:lstStyle/>
          <a:p>
            <a:pPr algn="ctr"/>
            <a:r>
              <a:rPr b="1" sz="800">
                <a:solidFill>
                  <a:srgbClr val="FFFFFF"/>
                </a:solidFill>
              </a:rPr>
              <a:t>Training Credit Usage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096000" y="3002200"/>
          <a:ext cx="2819400" cy="10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0670"/>
                <a:gridCol w="1268730"/>
              </a:tblGrid>
              <a:tr h="2124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133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13324"/>
                    </a:solidFill>
                  </a:tcPr>
                </a:tc>
              </a:tr>
              <a:tr h="2124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Total Credits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24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Used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124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Remaining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24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% Used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30.0%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096000" y="4144200"/>
            <a:ext cx="2819400" cy="207000"/>
          </a:xfrm>
          <a:prstGeom prst="rect">
            <a:avLst/>
          </a:prstGeom>
          <a:solidFill>
            <a:srgbClr val="013324"/>
          </a:solidFill>
        </p:spPr>
        <p:txBody>
          <a:bodyPr wrap="square">
            <a:spAutoFit/>
          </a:bodyPr>
          <a:lstStyle/>
          <a:p>
            <a:pPr algn="ctr"/>
            <a:r>
              <a:rPr b="1" sz="800">
                <a:solidFill>
                  <a:srgbClr val="FFFFFF"/>
                </a:solidFill>
              </a:rPr>
              <a:t>Technical Support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096000" y="4351200"/>
          <a:ext cx="2819400" cy="42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400"/>
              </a:tblGrid>
              <a:tr h="2124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Support Level</a:t>
                      </a:r>
                    </a:p>
                  </a:txBody>
                  <a:tcPr>
                    <a:solidFill>
                      <a:srgbClr val="013324"/>
                    </a:solidFill>
                  </a:tcPr>
                </a:tc>
              </a:tr>
              <a:tr h="2124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Premier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