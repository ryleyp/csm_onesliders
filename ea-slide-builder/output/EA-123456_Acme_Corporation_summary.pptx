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Sessions</c:v>
                </c:pt>
              </c:strCache>
            </c:strRef>
          </c:tx>
          <c:spPr>
            <a:ln w="25400">
              <a:solidFill>
                <a:srgbClr val="18AF7C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2023 Q1</c:v>
                </c:pt>
                <c:pt idx="1">
                  <c:v>2023 Q2</c:v>
                </c:pt>
                <c:pt idx="2">
                  <c:v>2023 Q3</c:v>
                </c:pt>
                <c:pt idx="3">
                  <c:v>2023 Q4</c:v>
                </c:pt>
                <c:pt idx="4">
                  <c:v>2024 Q1</c:v>
                </c:pt>
                <c:pt idx="5">
                  <c:v>2024 Q2</c:v>
                </c:pt>
                <c:pt idx="6">
                  <c:v>2024 Q3</c:v>
                </c:pt>
                <c:pt idx="7">
                  <c:v>2024 Q4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660.0</c:v>
                </c:pt>
                <c:pt idx="1">
                  <c:v>755.0</c:v>
                </c:pt>
                <c:pt idx="2">
                  <c:v>700.0</c:v>
                </c:pt>
                <c:pt idx="3">
                  <c:v>850.0</c:v>
                </c:pt>
                <c:pt idx="4">
                  <c:v>950.0</c:v>
                </c:pt>
                <c:pt idx="5">
                  <c:v>1050.0</c:v>
                </c:pt>
                <c:pt idx="6">
                  <c:v>990.0</c:v>
                </c:pt>
                <c:pt idx="7">
                  <c:v>1170.0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6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228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013324"/>
                </a:solidFill>
              </a:rPr>
              <a:t>EA-123456 - Acme Corporation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800100"/>
            <a:ext cx="868680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A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800">
                <a:solidFill>
                  <a:srgbClr val="013324"/>
                </a:solidFill>
              </a:rPr>
              <a:t>EA End Date: 2025-12-31     Term: 3 Years     Scope: Enterprise     Phase: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3716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Bundle Information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578600"/>
          <a:ext cx="2819399" cy="63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2610"/>
                <a:gridCol w="986789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Bundle Name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Design Suite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Simulation Bundle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28600" y="23158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Finite Quantity Licenses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2522800"/>
          <a:ext cx="2819400" cy="106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910"/>
                <a:gridCol w="1550670"/>
                <a:gridCol w="84582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AutoCAD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Named User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Revit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Named User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Inventor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Named User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Navisworks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Named User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162300" y="13716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Software Usage Trend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162300" y="1578600"/>
          <a:ext cx="2819400" cy="159448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162300" y="3253085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Software Usage Data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62300" y="3460085"/>
          <a:ext cx="2819400" cy="8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/>
                <a:gridCol w="140970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Max Sessions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1,170 (2024 Q4)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Min Sessions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660 (2023 Q1)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Avg QoQ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+9.0%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96000" y="13716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Top Site Locations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096000" y="1578600"/>
          <a:ext cx="2819400" cy="127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/>
                <a:gridCol w="789432"/>
                <a:gridCol w="620268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Sessions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USA, New York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USA, Chicago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310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13.0%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USA, Houston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UK, London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USA, San Francisco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096000" y="29330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Version Usage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096000" y="3140000"/>
          <a:ext cx="2819400" cy="127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845820"/>
                <a:gridCol w="84582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Top Version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Usage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AutoCAD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Revit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530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Inventor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Navisworks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Civil 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096000" y="44944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Training Credit Usage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96000" y="4701400"/>
          <a:ext cx="2819400" cy="106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670"/>
                <a:gridCol w="126873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Total Credits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Remaining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% Used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096000" y="58434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Technical Support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096000" y="6050400"/>
          <a:ext cx="2819400" cy="42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Support Level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Premier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